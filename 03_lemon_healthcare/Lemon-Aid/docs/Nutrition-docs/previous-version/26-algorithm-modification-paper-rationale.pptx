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a8dc290606415a" /><Relationship Type="http://schemas.openxmlformats.org/officeDocument/2006/relationships/extended-properties" Target="/docProps/app.xml" Id="R9f45d86a4ccd41d0" /><Relationship Type="http://schemas.openxmlformats.org/officeDocument/2006/relationships/officeDocument" Target="/ppt/presentation.xml" Id="Rb7d834d5af624e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496ea5bce4215"/>
  </p:sldMasterIdLst>
  <p:notesMasterIdLst>
    <p:notesMasterId xmlns:r="http://schemas.openxmlformats.org/officeDocument/2006/relationships" r:id="Ra00e971c86134da0"/>
  </p:notesMasterIdLst>
  <p:sldIdLst>
    <p:sldId xmlns:r="http://schemas.openxmlformats.org/officeDocument/2006/relationships" id="256" r:id="R24846e88455047f0"/>
    <p:sldId xmlns:r="http://schemas.openxmlformats.org/officeDocument/2006/relationships" id="257" r:id="R1dffc7db7caa421a"/>
    <p:sldId xmlns:r="http://schemas.openxmlformats.org/officeDocument/2006/relationships" id="258" r:id="Rcca6c0e1a5524c42"/>
    <p:sldId xmlns:r="http://schemas.openxmlformats.org/officeDocument/2006/relationships" id="259" r:id="R53dcd662737c4fd0"/>
    <p:sldId xmlns:r="http://schemas.openxmlformats.org/officeDocument/2006/relationships" id="260" r:id="R72bf6ebe32364382"/>
    <p:sldId xmlns:r="http://schemas.openxmlformats.org/officeDocument/2006/relationships" id="261" r:id="Re58fd339622a4190"/>
    <p:sldId xmlns:r="http://schemas.openxmlformats.org/officeDocument/2006/relationships" id="262" r:id="Rfe51e5177e104ba8"/>
    <p:sldId xmlns:r="http://schemas.openxmlformats.org/officeDocument/2006/relationships" id="263" r:id="Rd552579a8dc14cda"/>
    <p:sldId xmlns:r="http://schemas.openxmlformats.org/officeDocument/2006/relationships" id="264" r:id="Rd7cd93cee79442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496ea5bce4215" /><Relationship Type="http://schemas.openxmlformats.org/officeDocument/2006/relationships/theme" Target="/ppt/theme/theme1.xml" Id="Reca3408b6e7140ae" /><Relationship Type="http://schemas.openxmlformats.org/officeDocument/2006/relationships/notesMaster" Target="/ppt/notesMasters/notesMaster1.xml" Id="Ra00e971c86134da0" /><Relationship Type="http://schemas.openxmlformats.org/officeDocument/2006/relationships/presProps" Target="/ppt/presProps.xml" Id="R8000036d1297483b" /><Relationship Type="http://schemas.openxmlformats.org/officeDocument/2006/relationships/viewProps" Target="/ppt/viewProps.xml" Id="R0c690c0549fe4fb9" /><Relationship Type="http://schemas.openxmlformats.org/officeDocument/2006/relationships/tableStyles" Target="/ppt/tableStyles.xml" Id="R482dcd260f6b40f9" /><Relationship Type="http://schemas.openxmlformats.org/officeDocument/2006/relationships/slide" Target="/ppt/slides/slide1.xml" Id="R24846e88455047f0" /><Relationship Type="http://schemas.openxmlformats.org/officeDocument/2006/relationships/slide" Target="/ppt/slides/slide2.xml" Id="R1dffc7db7caa421a" /><Relationship Type="http://schemas.openxmlformats.org/officeDocument/2006/relationships/slide" Target="/ppt/slides/slide3.xml" Id="Rcca6c0e1a5524c42" /><Relationship Type="http://schemas.openxmlformats.org/officeDocument/2006/relationships/slide" Target="/ppt/slides/slide4.xml" Id="R53dcd662737c4fd0" /><Relationship Type="http://schemas.openxmlformats.org/officeDocument/2006/relationships/slide" Target="/ppt/slides/slide5.xml" Id="R72bf6ebe32364382" /><Relationship Type="http://schemas.openxmlformats.org/officeDocument/2006/relationships/slide" Target="/ppt/slides/slide6.xml" Id="Re58fd339622a4190" /><Relationship Type="http://schemas.openxmlformats.org/officeDocument/2006/relationships/slide" Target="/ppt/slides/slide7.xml" Id="Rfe51e5177e104ba8" /><Relationship Type="http://schemas.openxmlformats.org/officeDocument/2006/relationships/slide" Target="/ppt/slides/slide8.xml" Id="Rd552579a8dc14cda" /><Relationship Type="http://schemas.openxmlformats.org/officeDocument/2006/relationships/slide" Target="/ppt/slides/slide9.xml" Id="Rd7cd93cee794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5fcf89e64748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6f771ff5149c0" /><Relationship Type="http://schemas.openxmlformats.org/officeDocument/2006/relationships/notesMaster" Target="/ppt/notesMasters/notesMaster1.xml" Id="Re696248db5dc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6baa0ed8134197" /><Relationship Type="http://schemas.openxmlformats.org/officeDocument/2006/relationships/notesMaster" Target="/ppt/notesMasters/notesMaster1.xml" Id="R555b3431d9114d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fd974e34d640db" /><Relationship Type="http://schemas.openxmlformats.org/officeDocument/2006/relationships/notesMaster" Target="/ppt/notesMasters/notesMaster1.xml" Id="R23af8c30263648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816b5dfc1b49b6" /><Relationship Type="http://schemas.openxmlformats.org/officeDocument/2006/relationships/notesMaster" Target="/ppt/notesMasters/notesMaster1.xml" Id="R6439334a247c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e74348e18e47fa" /><Relationship Type="http://schemas.openxmlformats.org/officeDocument/2006/relationships/notesMaster" Target="/ppt/notesMasters/notesMaster1.xml" Id="R09a3dabfc5a449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0af49d9f04863" /><Relationship Type="http://schemas.openxmlformats.org/officeDocument/2006/relationships/notesMaster" Target="/ppt/notesMasters/notesMaster1.xml" Id="Rb060c56b0015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58a8b7042f49b0" /><Relationship Type="http://schemas.openxmlformats.org/officeDocument/2006/relationships/notesMaster" Target="/ppt/notesMasters/notesMaster1.xml" Id="R2ff5d3d3d34e43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988756a4844547" /><Relationship Type="http://schemas.openxmlformats.org/officeDocument/2006/relationships/notesMaster" Target="/ppt/notesMasters/notesMaster1.xml" Id="R6c3aefa51ba2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7b0fb239b041ef" /><Relationship Type="http://schemas.openxmlformats.org/officeDocument/2006/relationships/notesMaster" Target="/ppt/notesMasters/notesMaster1.xml" Id="Ra62764c3020744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124ba2c4e459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6f7828488a6478e" /><Relationship Type="http://schemas.openxmlformats.org/officeDocument/2006/relationships/slideLayout" Target="/ppt/slideLayouts/slideLayout2.xml" Id="Rbfa849813a0f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849813a0f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ca0310d5874876" /><Relationship Type="http://schemas.openxmlformats.org/officeDocument/2006/relationships/notesSlide" Target="/ppt/notesSlides/notesSlide1.xml" Id="R4a8ace9b98e94a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43b1e2f9c477d" /><Relationship Type="http://schemas.openxmlformats.org/officeDocument/2006/relationships/notesSlide" Target="/ppt/notesSlides/notesSlide2.xml" Id="R1ddf9bd80de943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49276f6dfe466d" /><Relationship Type="http://schemas.openxmlformats.org/officeDocument/2006/relationships/notesSlide" Target="/ppt/notesSlides/notesSlide3.xml" Id="R8883510cbc8a44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b79f69fb3490f" /><Relationship Type="http://schemas.openxmlformats.org/officeDocument/2006/relationships/notesSlide" Target="/ppt/notesSlides/notesSlide4.xml" Id="R4b238b954a1f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0d7f27ad7430a" /><Relationship Type="http://schemas.openxmlformats.org/officeDocument/2006/relationships/notesSlide" Target="/ppt/notesSlides/notesSlide5.xml" Id="Rc24251965dc244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8b97abd214360" /><Relationship Type="http://schemas.openxmlformats.org/officeDocument/2006/relationships/notesSlide" Target="/ppt/notesSlides/notesSlide6.xml" Id="Rc224c1c6b1c34c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9c8df39b134705" /><Relationship Type="http://schemas.openxmlformats.org/officeDocument/2006/relationships/notesSlide" Target="/ppt/notesSlides/notesSlide7.xml" Id="Rda6dc5d9ff384f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6878fdb434f31" /><Relationship Type="http://schemas.openxmlformats.org/officeDocument/2006/relationships/notesSlide" Target="/ppt/notesSlides/notesSlide8.xml" Id="Rb5b4720f030547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d2d0272bd4b1d" /><Relationship Type="http://schemas.openxmlformats.org/officeDocument/2006/relationships/notesSlide" Target="/ppt/notesSlides/notesSlide9.xml" Id="R14a1e0204d4c4e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85367-1EF9-4D08-803D-32E3E902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8E3E9-CC07-4877-B0B2-A93BE0FA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Algorithm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86350-AD96-465C-91B8-A9020D2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알고리즘 수정의 핵심은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근거 있는 공식과 제품 규칙을 분리한 것입니다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B96CC-7821-43F6-8D87-1B6B8B22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비전공자 관점에서는 “교과서 공식”과 “앱 운영 규칙”을 같은 이름으로 섞지 않게 만든 작업입니다.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8B8BB-D299-4582-8740-7A906271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01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7DB86-ACD4-4823-BA0A-C3B38EA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766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DE1D1-79E6-4C57-9320-6D318E0D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수정 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2AD8-6DCD-4759-BB01-45E66108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계산 기준이</a:t>
            </a:r>
          </a:p>
          <a:p xmlns:a="http://schemas.openxmlformats.org/drawingml/2006/main">
            <a:pPr algn="l">
              <a:defRPr sz="2025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한 덩어리로 보임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8133A-2462-4F0A-A23D-2B15CAB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7A0B7-1756-4C57-A61C-568B11A5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7AF48-720B-45A7-85D5-D9F43EFE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10050"/>
            <a:ext cx="1838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논문 공식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EFC32-0379-4DD1-BB6B-228C98B3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9EB36-C501-4C11-ADB4-D556282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14850"/>
            <a:ext cx="1838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공식 영양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4A5EF-9376-4CB1-9C8F-5AB0B9C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2B4AA-B094-4E52-B974-15F23998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19650"/>
            <a:ext cx="2028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제품 점수 가중치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F7DED-60F8-40F9-A57D-CD3FA760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5BB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F7C57-3219-460A-850F-5F430887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위험: 휴리스틱도 과학적 사실처럼</a:t>
            </a:r>
          </a:p>
          <a:p xmlns:a="http://schemas.openxmlformats.org/drawingml/2006/main">
            <a:pPr algn="l">
              <a:defRPr sz="975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오해될 수 있음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16DAA-3F64-4370-A242-98114318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83E5C-8427-4502-8B36-A6C46944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3000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16C3C-5158-4D00-9842-2EA9DA51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BA878-13AC-4521-9D35-308763B7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근거 A: 논문/공식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AC9B6-E305-497C-A78F-9692790D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그대로 코드에 반영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3C6F2-FF02-4C9D-BA57-0D728CBB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338AE-4306-448D-900E-0ED5EA6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004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BMI: 한국/아시아 cutoff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342DA-E925-4EDD-8644-299093B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90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638CA-0C18-49C3-AA3E-0A0EC11D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243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BMR: Mifflin-St Jeor 공식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B03BA-7DAC-4868-955E-49062B42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8EC33-7397-42D8-A59B-7730E76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481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HRmax: Tanaka 2001 선택지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B1BF2-5AB7-40AF-BC45-AC499229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38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DB673-2BA8-4A51-9DE3-8E22AA3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720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KDRIs/DRI: 기준값 룩업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C7A87-C96C-4B95-9AC8-08E13B86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352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09422-D2AE-49A6-8D79-9183B44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60C77-C2BA-4E3F-9BD3-08434F00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근거 C: 제품 휴리스틱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A71552-D621-4558-B15E-5F728FDB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운영 데이터로 검증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9FA800-F547-441F-A8F8-D88A105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67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080AF1-5C1C-4316-B0B2-3C41B39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600450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성별/나이/BMI 걸음수 계수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2863F-D48A-4F62-A005-8733C2B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90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F8B4D-8DD7-4D60-A203-C78ABA57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24300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질환 점수 가중치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CA1A17-4C24-4EBF-BD63-E120939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14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324CC4-0564-4C54-B877-104CC498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48150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부족/낮음/과다 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8F3979-9FFE-43B9-8836-F2166D69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38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ACA54A-C1F5-4D2F-8CF8-2528F180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572000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영양제 매칭 가중치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46BD4C-6C06-49F8-941B-2B79E076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E48130-0E49-433A-92A8-0FE82B92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E6C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AEE6C5"/>
                </a:solidFill>
                <a:latin typeface="Apple SD Gothic Neo"/>
                <a:ea typeface="Apple SD Gothic Neo"/>
                <a:cs typeface="Apple SD Gothic Neo"/>
              </a:rPr>
              <a:t>한 줄 요약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7AB177-2C9C-44AC-8B2F-9CFA8D8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7692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논문이 직접 보장하는 계산은 “공식”으로, 아직 검증해야 하는 값은 “프로젝트 규칙”으로 표시했습니다.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CF41B5-2D7E-4467-9664-F90E6EC1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42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출처 예: WHO BMI, Mifflin BMR, Tanaka HRmax, KDRIs/DRI</a:t>
            </a:r>
          </a:p>
        </p:txBody>
      </p:sp>
    </p:spTree>
    <p:extLst>
      <p:ext uri="{BB962C8B-B14F-4D97-AF65-F5344CB8AC3E}">
        <p14:creationId xmlns:p14="http://schemas.microsoft.com/office/powerpoint/2010/main" val="16044210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CCAACC-C04F-481A-9B6F-D04B598D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3DEDA-1752-4015-A238-63672FB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Implementation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2C79A-4E58-48DB-A63F-1187672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무엇이 달라졌나: 정확도보다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설명 가능성과 안전을 먼저 고정했습니다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A71E5-6984-4AB5-A55C-A89B9D5D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사용자에게는 단정적인 진단 대신 “참고 정보”를 제공하고, 팀에게는 재현 가능한 계산 근거를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65E55-75E0-406E-8CB3-96218FB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AC0A3-DCF5-4854-ABD4-6D6F97C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960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B5A0F-1D7E-44E5-8825-C58B98DA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00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CDD05-42DC-4DC3-9CDF-20D9DBFF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43A99-BEDE-4363-9D81-20959588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A3DC5-F007-4311-8322-656F7F3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입력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FF3A0-AE13-4ACF-86BF-CF32898F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019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키, 체중, 걸음수, 심박, 식단, 영양제 라벨처럼 사용자가 제공한 건강관리 데이터입니다.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05579-746B-4C45-8969-0C60B0B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2400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A6C4C-9205-45E5-8AA7-A325A46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76D8C-50A9-441B-93DC-A879A96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7953B-F8F7-4F84-B950-0564C6C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384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근거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681E3-712A-4C89-9014-070E68AD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2019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BMI, BMR, HRmax, KDRIs처럼 공식 또는 논문으로 설명 가능한 계산 기준을 먼저 선택합니다.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FAA38-27F1-4C2F-BC42-0AA7C05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2400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A699D-992C-4207-B5F3-B3DA26D5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8C0BD-6BB3-4B6E-91D0-C580475E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241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5AD5D-0259-4D5E-8949-E8BDF08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알고리즘 산출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C0C85-B750-4E12-9024-C0D507A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2019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부족 가능성, 활동 점수, 체중 예측은 버전과 함께 계산해 나중에 같은 결과를 재현합니다.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248B5-1856-481B-A6B4-3AB7B7E2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400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A9082-0B09-48C1-A5B5-9082120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1226B-5689-4064-878B-BED6159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241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C67E7-94B3-4369-9C02-89FC3B26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384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안전한 노출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9871C-2E5F-4796-AC67-62A93580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019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진단, 치료, 처방, 복용량 변경 표현은 차단하고 전문가 상담 권고로 제한합니다.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728D6-D0B8-4E7A-835C-44A5AEA2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67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7ED8A-745A-429C-88B5-EB4CD9D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앱 설계에 반영된 안전장치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94833-D97D-438B-BEF4-2BFDED4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30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CEADF"/>
                </a:solidFill>
                <a:latin typeface="Apple SD Gothic Neo"/>
                <a:ea typeface="Apple SD Gothic Neo"/>
                <a:cs typeface="Apple SD Gothic Neo"/>
              </a:rPr>
              <a:t>외부 LLM 기본 차단 · Ollama localhost 우선 · OCR 원문은 HMAC hash 중심 추적 · 사용자 확인 전 확정 저장 금지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B45CE9-05AF-4005-8759-7410E36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533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7AFDFC-3882-499C-BD16-0C89FCDC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버전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64988-CBA5-4554-ACC8-26A37FF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algorithm_version + KDRIs manifest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E534E-C750-48A7-8A1E-716E7329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Snapshot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0033AE-D0AB-45B9-8217-04A20ABC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입력과 결과를 함께 보관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4835D4-D9E3-4B19-B52B-7C454933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24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경고 유지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F06082-E17D-4103-9A6F-2C9D9DCD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48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90일 이상 체중 예측은 참고용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9C848A-CDFF-43CF-9B3B-F51372C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05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DD96DB-8C33-4AFC-80BF-74FBEDB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비전공자용 해석: 계산기를 만든 것이 아니라, “어떤 공식으로 계산했는지 설명서가 붙은 건강관리 참고 도구”로 바꾼 것입니다.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758102-F39F-4515-9DCC-BF3EF0D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42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주요 근거: WHO BMI · Paluch step meta-analysis · Tanaka HRmax · Mifflin BMR · Hall weight model · KDRIs/DRI · Ollama/Pydantic docs</a:t>
            </a:r>
          </a:p>
        </p:txBody>
      </p:sp>
    </p:spTree>
    <p:extLst>
      <p:ext uri="{BB962C8B-B14F-4D97-AF65-F5344CB8AC3E}">
        <p14:creationId xmlns:p14="http://schemas.microsoft.com/office/powerpoint/2010/main" val="5166961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82C24-51A7-45A9-8CCB-57EFB8C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1928E-1F39-4AF8-B1A4-144D9A1C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Comparison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A8D0E-703E-4A9C-8194-1C20E70C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기존 알고리즘은 ‘계산 결과’ 중심,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수정 알고리즘은 ‘근거 등급’ 중심입니다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F96B0-37C7-45E3-94EF-9417A31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같은 결과값을 내더라도, 왜 그렇게 계산했는지와 어떤 값이 아직 검증 대상인지 함께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09D24-D7BB-4443-B29F-9D582757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DA7CB-58FE-40D7-B7F5-54C1CD2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19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A7F81-4E58-4F87-B5FE-91715CA4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3AC20-7BE7-41B6-9992-5B66074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한 계산 흐름 안에</a:t>
            </a:r>
          </a:p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모든 규칙이 섞임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A677E-63B5-4E44-89D3-AF6009CF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B6659-F2FF-4D5A-AD29-32B8D25E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논문 공식, 공식 기준, 회사 가이드, 임시 계수가 코드와 설명에서 같은 무게로 보일 수 있었습니다.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0F239-029D-4421-86DB-45D47E4F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EBD02-1F6D-46BD-BE67-C86596BD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3219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B21E6-AD77-461D-BB2F-BA3240A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8AD37-EF4C-4CC9-B5EA-683CE9E6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근거 A/B/C로 나누고</a:t>
            </a:r>
          </a:p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버전까지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173C6-ABFE-4E54-8444-723D8D47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43300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110E4-DF00-4C4D-8319-6A81EC47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528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공식 수식은 유지하고, 휴리스틱은 운영 검증 대상으로 분리해 팀 리뷰와 사용자 안내의 과장을 줄였습니다.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FBCB3-AE4B-4A9B-8A07-CEF80091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32194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AEFAF-B77C-43E2-AA13-0D491CB6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34F5D-CD99-4937-8B3B-F755407A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API 결과도</a:t>
            </a:r>
          </a:p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재현 가능하게 변경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F5C78-D1EE-4D5A-B06B-EECDE1A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26199-6BB0-4C2E-9FDA-A1B49A1E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algorithm_version, kdris_source_manifest_version, 입력 snapshot, 결과 snapshot을 저장 대상으로 묶었습니다.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6E821-9880-4BAB-92DE-EED22E8C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9A8E5-677B-46E0-8BC6-AB332C9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근거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B42C2-05B8-4E32-A4D5-2F211FE1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논문 또는 공식 문서가 수식·기준을 직접 지지: BMI, BMR, HRmax, KDRIs/DRI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EBC48-5847-4477-B968-610C297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1015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79B9B-65F3-468F-ABF5-A64AAEA9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근거 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AA9A1-0C32-4CCC-B08C-AA1A6EB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제품 운영을 위한 계수: 걸음수 보정, 질환 가중치, 영양제 매칭 threshold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D475E-283D-4AB6-90E2-0596A59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015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C9EAD-B793-4606-8324-31BC860F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435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안전 원칙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72245-B91E-4A36-85FD-8CB26653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911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진단·치료·처방·복용량 변경처럼 오해될 표현은 결과 문구에서 배제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0BEB7B-C1D9-4D81-826D-09C9C908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출처: 26-algorithm-modification-paper-rationale.md 요약 및 수정 원칙</a:t>
            </a:r>
          </a:p>
        </p:txBody>
      </p:sp>
    </p:spTree>
    <p:extLst>
      <p:ext uri="{BB962C8B-B14F-4D97-AF65-F5344CB8AC3E}">
        <p14:creationId xmlns:p14="http://schemas.microsoft.com/office/powerpoint/2010/main" val="3002221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E9E64-4BD8-446F-BFBE-116BF10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3FB13-1879-47F5-94A1-58697059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Detailed comparison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17A52-BA0A-4D10-9160-BDC11782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체형·활동 알고리즘은 목표치를 유지하되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‘무엇이 근거이고 무엇이 계수인지’ 나눴습니다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9036-C257-4773-ABAC-F3FDB7DA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비전공자에게는 ‘걸음 수 점수’처럼 보이지만, 내부에는 BMI, 걸음수, 심박, 비교군, 질환 가중치가 함께 들어갑니다.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DE513-C9AD-4E56-9D0F-9339F113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7989A-9585-4EA2-9401-8FA2506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B92DB-C19B-43CF-90C1-9C343AF1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9E0C2-FC20-4350-B8DE-8221BB5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249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3BD1C-E43D-4A06-89CB-32E2983B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76475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기존/위험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9F221-8B46-49FB-A59F-4887BDD6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533E5-B9FD-4ECD-8FC4-71C99653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76475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구현/수정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1975F-4037-41A0-8D82-B52E4C3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6CF9F-CA21-4B5F-8285-CD55A2B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236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43F03-CD19-4F4D-AB1B-01E1A5D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1907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BCDAF-A22F-4554-B729-93B1C10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7647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07348-0F19-4AEB-BEAD-AFC8261D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70411-3A08-41A3-A16E-2454EE91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05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BMI 분류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E9AB9-AB75-4028-8E3C-9B6A3597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09850"/>
            <a:ext cx="2495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7859E-ABE3-462E-9D56-E959ECB1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051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수치 분류가 진단처럼 보일 위험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24059-5C81-4C03-9748-F65B7226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2876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EAF94-979E-4FDE-AC16-A19BCDB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051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한국/아시아 cutoff 유지, UI 문구는 ‘BMI 기준 분류’로 제한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7B968-53CA-4D03-A354-539A61C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590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AABCE-F7B1-42BA-9F7B-A5C0A3B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051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WHO Asian BMI 근거는 살리고 진단 오해는 줄임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F3BAD-12FF-4371-9225-1E2E8343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09850"/>
            <a:ext cx="1219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59F54-B5B2-4F81-95EA-F0818347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7051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근거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E9658-8565-4074-81E0-68D06B82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F0342-1C17-4001-A16B-5BFA8DB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909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걸음수 목표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AC26A-6F8A-49B3-AC7D-D2420AB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61180-4800-4452-821E-7F897030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909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8,000보와 성별/나이/BMI 계수가 한 덩어리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12AF4-B21F-481B-AEE0-6E5E2087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9594EE-0745-4E90-88AA-8284FFF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909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8,000보 방향성은 유지, 세부 계수는 Evidence C로 분리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D211A-2DB0-43FF-9895-E965E21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4BE31A-286E-4CA0-A196-02B84687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909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논문은 방향성을 지지하지만 앱 계수 자체를 보장하지 않음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0E777-57FA-4B72-A342-7C7678C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917EB-E56C-4E1B-BB27-5F81D05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390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운영 검증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FE4DB-888B-42AE-A0D8-821BD74F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375A95-6A1B-44AA-B8E1-55140A4E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529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심박수 점수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68EC21-A37F-4DD4-9327-867DAD28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5765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D1020-FD09-4AE0-8C5D-33501F0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1529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기본 HRmax는 220-age 중심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33F128-25EE-4526-88CA-1FB3F779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5765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52F6A2-3D14-48DC-A370-C5BBBDB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529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guide_220_age 기본 유지 + tanaka_2001 옵션 추가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66465B-AFC7-4F7F-927F-80752A1E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F10B9-6F50-4CC9-B9EC-8B29E243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529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기존 테스트 재현성과 논문 근거 선택지를 동시에 확보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4DE8EF-1837-42B6-B640-725D2317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576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8B6E8D-2F3B-41D4-9335-2124FC52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152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비교 테스트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37277A-232D-4063-8E04-9B611A16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23E8E-CBBF-47B9-B5E2-7BFCC1AD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14900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비교군/질환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005D92-071F-40A8-BB19-84FEC88B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2495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387775-E190-4ED2-97D4-A8FAC7C2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149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순위 보너스와 질환 가중치가 제품 효과처럼 보일 수 있음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7E394F-EB74-49AD-B881-5DC90669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9650"/>
            <a:ext cx="2876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953E27-FD11-43EF-B036-9619AA5B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914900"/>
            <a:ext cx="2628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표본 30 미만이면 percentile 비활성화, 질환 multiplier는 최대 1.3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CF5BE4-6ABE-4F07-AB29-93E774F5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19650"/>
            <a:ext cx="2590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381BED-350E-4459-90E5-C68AE3A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149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개인정보 노출과 과도한 점수 상승을 제한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CB3F4A-A70D-49E2-9894-BAAF0B8B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9650"/>
            <a:ext cx="1219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AE7405-5447-4B8F-9C76-D5D8527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914900"/>
            <a:ext cx="971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휴리스틱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8E8915-FE6B-4EF5-B16C-849A1A8F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핵심 변화: 점수를 더 복잡하게 만든 것이 아니라, 점수를 설명할 책임을 코드와 문서에 추가했습니다.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695A75-7A52-4E2E-9D2F-5DC61BB6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85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근거: WHO BMI · Paluch 2022 · Lee 2019 · Tanaka 2001 · AHA/CDC/HHS 활동 기준</a:t>
            </a:r>
          </a:p>
        </p:txBody>
      </p:sp>
    </p:spTree>
    <p:extLst>
      <p:ext uri="{BB962C8B-B14F-4D97-AF65-F5344CB8AC3E}">
        <p14:creationId xmlns:p14="http://schemas.microsoft.com/office/powerpoint/2010/main" val="1816701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28209-6B81-4137-BC65-3692562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D5D6B-A4CD-49D2-A86E-3AF23C8A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Detailed comparison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AEC00-7B93-465A-A61F-644AC60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에너지·체중 예측은 단기 계산과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장기 예측의 한계를 분리했습니다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BDDB6-4313-4A51-A4E2-8FACA56A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BMR/TDEE와 체중 예측은 숫자가 명확해 보이지만, 실제 몸은 시간에 따라 적응합니다.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82E2E-FB81-4012-9D7E-9AFC8A10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0EBA8-8FCE-4A30-826F-23BE181A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31CCA-9C61-401F-A26D-19C556F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A729E-8229-434A-BD01-D5979F0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14550"/>
            <a:ext cx="249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92A8F-8623-499C-9858-3F240B5D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0275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기존/위험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639E1-52B9-40D5-93AE-42F3DFB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53E9E-4FBA-4774-8160-D45D9175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0275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구현/수정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E8466-CAC6-4960-8C54-34EBCF9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F78A3-A1FE-4B65-9713-FE40FC7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0275"/>
            <a:ext cx="236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C9BB7-6BD8-48ED-82F9-1128CF28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114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DC627-1BBE-4956-9C3D-73B10BE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0027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C44C0-3B27-4ED8-BD6A-009EED06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8AE66-FD38-40CB-A77D-7842EE1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BMR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702EB-203E-4032-AADF-299CA8B3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33650"/>
            <a:ext cx="2495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10182-8F8A-4A75-B167-990D773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28900"/>
            <a:ext cx="2247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기초대사량 공식 사용 근거가 화면/문서에서 약함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ECECA-E389-422F-8BB5-39DDC4B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2876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3DB11-FDB5-4620-B408-5EE94FF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289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Mifflin-St Jeor 공식으로 명시하고 estimated_bmr로 표현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65359-5BC9-40C6-9FE2-328AB22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2590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14546-4DA1-4461-B809-D03D422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2890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논문 공식은 예측식이지 개인의 실제 대사량 확정값이 아님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9DAC7-8976-4D62-9D85-5FB0FC96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33650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CF01D-FB40-4341-8B50-0425691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628900"/>
            <a:ext cx="971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근거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CDE55-74D5-4BAF-BF03-64D71013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66C37-2124-4298-B990-EA970C6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290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TDEE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F108E-3C43-42FC-A027-4CB41CB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2495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4ADBA-F115-4730-86BA-CC3B4D1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29000"/>
            <a:ext cx="2247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걸음수 기반 활동계수로 총소모열량 추정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B045C5-C4D2-478F-834B-7469074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2876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D6A49C-5096-4D27-9770-F77B8BF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290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estimated_tdee로 표시, activity_factor_policy 분리 예정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28324-4A69-4A54-9AA5-DA03905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2590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678BA5-FBE2-4273-BCE3-533E65F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2900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활동계수는 프로젝트 구간 규칙이므로 운영 데이터 보정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391F1-E4E1-4EBD-9C75-01E224A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33750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7EBAC7-A3BE-4540-A8EC-11867B83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29000"/>
            <a:ext cx="971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근거 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85F22-0B8C-40C1-8E1F-041FB573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752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24D12-D2AF-4512-A1DC-7FB6B3F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291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체중 예측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858CC5-712E-460A-A9D8-46D5BA99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33850"/>
            <a:ext cx="2495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AA73D6-E44F-46D5-9D16-37721F5F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22910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7700 kcal/kg 기반 정적 모델로 결과 산출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BE8D3F-3B8B-494C-8954-93EFCAA0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C9131D-676C-4FD7-993D-83C38FD1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229100"/>
            <a:ext cx="2628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단기 7-step 유지, 90일 이상은 동적 모델 검토 경고 추가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E9558D-884B-4E93-A552-51BC4C1D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338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43808C-4AC5-4DF3-B968-018F6DA2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291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장기 체중 변화는 대사 적응과 체성분 변화를 반영해야 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BA41A5-9AC3-4F25-8911-56C66911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3385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52E7A4-4A65-4314-983B-3A83FC61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229100"/>
            <a:ext cx="971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경고 유지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950B7C-640F-4F63-B968-9341386F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371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3291D-9557-4BAC-93A1-6CC617CF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유지한 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B90023-E186-4483-8164-480354D5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기존 가이드와 테스트를 깨지 않도록 단기 계산은 유지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622477-9427-41AB-A0DD-B95C80D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3371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D35830-DFAC-4725-A832-5EC0EC9D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추가한 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E7E3E3-69A0-48C9-9F82-3A4C632C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9595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장기 예측은 참고용임을 경고하고 Hall 동적 모델로 확장 예정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6BF753-3F9E-42AB-B454-6C0A6F61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3EA10D-19F3-44EB-A9F0-919768D8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483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금지한 것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A44CDE-7A30-473F-B215-1CD1619F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959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체중 변화 수치를 확정 예측처럼 보여주는 표현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7B96AB-914A-4F43-B998-7C72D61E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85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근거: Mifflin 1990 · Wishnofsky 1958 · Hall 2011 · Deurenberg 1991 · Forbes 2000</a:t>
            </a:r>
          </a:p>
        </p:txBody>
      </p:sp>
    </p:spTree>
    <p:extLst>
      <p:ext uri="{BB962C8B-B14F-4D97-AF65-F5344CB8AC3E}">
        <p14:creationId xmlns:p14="http://schemas.microsoft.com/office/powerpoint/2010/main" val="15010712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89768-10D4-4963-94C5-6C4E603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F8E3C-A68B-43D1-ABAD-7F974DD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Detailed comparison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E2702-074F-4195-9E77-388DC974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영양 기준은 ‘값을 찾는 기능’에서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‘출처를 추적하는 기능’으로 바뀌었습니다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3E95D-ED7C-4C33-9307-5BA5208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영양소 기준값은 시간이 지나며 개정되므로, 어떤 버전과 정오표를 썼는지 저장해야 나중에 같은 결과를 설명할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DADA6-4924-436E-9F93-AFBA098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AFD82-7B02-44A5-AFE5-464F9B5B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1C54C-F2AC-4E15-8F95-3EEA9ED0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BD4F5-9FE6-4CEE-8F1A-1A88119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6450"/>
            <a:ext cx="249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4574A-45EB-4F7F-A541-5695D6CD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62175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기존/위험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391EA-2417-4330-B527-93BCA9C8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E3B29-574C-4396-98BB-E1DB801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62175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구현/수정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15DEC-1F17-462C-87CA-AFC6DF9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3CEEA-88D6-44F8-BE12-6FCEFA2C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62175"/>
            <a:ext cx="236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896E9-23F5-401B-8CC9-03A4638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076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811E9-5A8B-4467-A363-0C342B62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6217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18B65-3869-4804-A0EC-210958A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752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80B6B-5A21-4AE5-A6D5-B6830164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908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KDRIs 룩업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87A36-0CAD-47C7-8F89-6CD2BC3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2495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78339-4DC0-46E3-8D8D-D8F6406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90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CSV에서 기준값을 조회하는 구조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70DB1-F3C5-45FB-95F7-BB6000B7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2876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65689-AD0D-48BA-A341-02B0E4F2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908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dataset_version, review_status, source_manifest_version을 함께 반환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39060-140C-4889-BCE8-EF9A0CD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2590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D7AF5-76C3-4FB3-8E80-9F06AC9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908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공식 자료 디지털화/정오표/검수 상태를 추적해야 운영 가능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08F0F-5A68-4068-A271-6F57050C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495550"/>
            <a:ext cx="121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45D85-318C-44BC-9694-8EC0283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5908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운영 전환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FA50F-48DE-4342-925F-3CFEBA2B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04E55-69D0-4A01-B477-652DA8DC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부족 분류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877FC-F3A9-4C1C-AD3C-03867A6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14700"/>
            <a:ext cx="2495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1C635-2A9F-479D-B585-BA03338B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099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35/70/130% threshold가 진단 cutoff처럼 보일 위험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90B275-23EA-4FE1-9FF4-8EAF4EF8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95630-6E6C-44A7-8C85-A69BD937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0995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사용자 문구는 ‘부족 가능성’, ‘섭취량 확인’으로 완화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6FFE7-32F1-4987-94CB-D8B81FF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147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D59FE2-4FA2-42F8-ACA7-070E4BB6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0995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DRI/KDRIs는 기준 해석을 돕지만 공식 결핍 진단 기준은 아님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ADBC7F-0264-4855-AFB2-A41F3EC9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14700"/>
            <a:ext cx="1219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80C5D-2625-4ED5-9C29-06473E76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09950"/>
            <a:ext cx="971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전문가 검토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42496F-41FD-4806-981F-90C098F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752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9ED8EE-C7B6-4CAE-83EA-2C2155E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053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단위 환산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2E00B4-3045-41AC-99D8-3A4C950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10050"/>
            <a:ext cx="2495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17084A-B04E-4F14-ADAE-15F7199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053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mg, ug, IU가 혼재되어 잘못 비교될 수 있음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501CD5-5AE7-419C-8D09-6E6E37F0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10050"/>
            <a:ext cx="2876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DF4DCB-3A6C-440F-940D-8D0DBA2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0530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g/mg/ug 변환 + vitamin D IU만 제한 허용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5BADF5-A24D-4310-8931-07EB726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590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B7A589-E197-4192-95C5-299917A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053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IU는 영양소마다 의미가 달라 범용 변환하면 오류 발생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F084FF-2642-4EB9-918C-6871904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210050"/>
            <a:ext cx="121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892B9C-7EB2-406D-B1AF-9ADE700B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3053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확장 예정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40B501-5CEA-4ABC-8EB4-F67CD644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B1E1B5-EB9B-43AB-9E28-0C6601C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E6C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EE6C5"/>
                </a:solidFill>
                <a:latin typeface="Apple SD Gothic Neo"/>
                <a:ea typeface="Apple SD Gothic Neo"/>
                <a:cs typeface="Apple SD Gothic Neo"/>
              </a:rPr>
              <a:t>운영 차단 기준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9A40B0-2837-4996-8563-F1E9B47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102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review_status가 승인되지 않은 KDRIs row는 production에서 차단해야 합니다.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E7FB8F-E06A-4E21-AD9F-D4D4EA1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57800"/>
            <a:ext cx="468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DD5B41-DF53-4C19-895F-FAE0723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사용자 화면 원칙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71AD6F-B31F-47EB-AA4F-FD03525A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1020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결과는 ‘진단’이 아니라 ‘섭취량 확인이 필요한 참고 신호’로 표현합니다.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45DA59-7F38-44DE-8110-B7CF300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85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근거: 2025 KDRIs · National Academies DRI · NIH Vitamin D Fact Sheet</a:t>
            </a:r>
          </a:p>
        </p:txBody>
      </p:sp>
    </p:spTree>
    <p:extLst>
      <p:ext uri="{BB962C8B-B14F-4D97-AF65-F5344CB8AC3E}">
        <p14:creationId xmlns:p14="http://schemas.microsoft.com/office/powerpoint/2010/main" val="150174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5CAEF-7830-4449-B1CC-E876D3D3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56F5E-FE01-4472-9752-AA62F8E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Detailed comparison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CDE81-C3DD-400F-B8A3-B72F1119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OCR/LLM·영양제 매칭은 자동 확정이 아니라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사용자 확인이 필요한 후보 추천으로 바뀌었습니다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6D66F-28A9-48F3-8FD8-8EA71B5B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이미지와 라벨 텍스트는 오류와 민감정보 위험이 모두 있으므로, 모델 출력은 검증 전까지 확정 데이터가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787F-7684-4E56-B763-4AD62CE6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D2D6-A5FE-477A-BDBE-424C233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D4374-D7C0-4B17-A196-AD52FED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02BF9-6CFC-40CB-9E20-F329090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249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F364F-D70D-4616-92F1-1A62473A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81225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기존/위험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6857B-FC6F-4560-AD26-9E31B4A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6E5DD-4F37-46A5-B9D3-36102A3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81225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구현/수정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7BE27-1DD3-4428-92A6-27659E0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30529-C784-4D8E-AD0E-EE118A0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236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294A5-8EB9-4E69-9FC3-CD673E0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0955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81DF2-A885-4C57-A46A-BEB22549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8122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71949-6E9B-4465-BB79-7BE12EA8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7254E-1DB9-4979-A5FD-99AA570A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985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LLM 파서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7E94E-2C93-4B97-A2AB-0EBD0F2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14600"/>
            <a:ext cx="2495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3DB8C-B82F-403A-8EA7-C95E05E1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09850"/>
            <a:ext cx="224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외부 LLM 중심이면 OCR 원문이 외부 전송될 수 있음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DFD3B-F50E-44BA-BE7B-0B51C47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146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F1626-8F63-4B56-8DCD-1562335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098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Ollama localhost 우선, JSON Schema + Pydantic 재검증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02060-E769-4816-B2A4-ABE36CE3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259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E551D-C87B-45A6-8E12-574D1626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098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개인 건강정보 보호와 구조화 출력 안정성을 동시에 확보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28D56-8FDD-419C-8049-AF64EB5C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1460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08F99-D9F3-40E4-A831-1F613E2F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6098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보안 기본값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74C4F-0865-4912-BBCC-3BCAA6EA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F8E4F-3CFC-49CC-8DBE-6B178B13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671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OCR 원문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E4073F-4193-4FAA-9DED-076DDEE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71850"/>
            <a:ext cx="2495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788C7-DE42-4C0E-BFA5-7182505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6710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raw text 저장 시 민감정보 노출 가능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B5CE61-93E0-4758-BEE1-9CCB19E3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78CB3-2336-452B-B77B-6F51D98F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671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정규화 후 HMAC-SHA256 hash 중심으로 추적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C78841-C2C1-4DEE-A443-CA53E2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590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F4E00-D96D-4281-9BF2-2EA44A2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671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분석 재현 힌트는 남기되 원문 보관 리스크는 줄임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13644-A993-4724-B5EC-F76B281B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1219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17D74E-6A33-4E60-AC57-DE9C22C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6710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감사 추적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FADF50-5B77-4D5B-B7D9-F34C2FF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4232E-9764-454D-B2EC-139522A3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4815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8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영양제 매칭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83F88D-7126-4867-B6CD-99F4F97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52900"/>
            <a:ext cx="2495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F2B7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6F3B5E-1EC2-469E-9EFA-F0E14DD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24815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LLM/OCR 결과만으로 제품을 확정할 위험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786A43-6EAA-470A-8CDF-B078CA32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5290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9BD5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049365-F237-4D6A-B2F0-E174C994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24815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제품명 72%, 제조사 18%, 성분 10%; auto threshold 0.92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41452E-BDE6-4A28-83E8-F267BCC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7A0D1E-5031-4181-8614-D168731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48150"/>
            <a:ext cx="234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잘못된 제품·성분량·복용량 저장을 막기 위해 후보 추천 우선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06A483-6270-4F62-95A5-CEDA5A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52900"/>
            <a:ext cx="1219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2B4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0641DB-2484-47B1-AE30-3F912230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248150"/>
            <a:ext cx="971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70" b="0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실측 필요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8B870A-7805-40F5-95B8-71FE847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27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132BB4-EEC2-42F6-8841-2232EEF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절대 하지 않는 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5CD849-0DCB-43E1-9793-4B691137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모델 결과만으로 복용량 변경 안내 또는 처방성 문구 제공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4B8E28-FBE7-489E-8293-E1C5643D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14950"/>
            <a:ext cx="327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13BA31-7D59-41A0-8370-97D3B8FA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483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기본 UX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C46EA5-1033-4A33-9FA1-0ABA3DE2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9595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후보 추천 → 사용자가 확인 → 그 다음 등록/분석에 반영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4F7F84-A3E2-4D46-ABEA-07982ACC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3124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27B6AA-C97E-454F-921F-10BAFFD6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다음 검증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653619-DB32-4C47-A0DE-E03C80D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식약처 제품 DB 샘플로 precision/recall과 threshold 재조정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795498-4B8C-48ED-AE89-2A2EE62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85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근거: Ollama Structured Outputs · Ollama Chat API · Pydantic BaseModel API · 프로젝트 매칭 휴리스틱</a:t>
            </a:r>
          </a:p>
        </p:txBody>
      </p:sp>
    </p:spTree>
    <p:extLst>
      <p:ext uri="{BB962C8B-B14F-4D97-AF65-F5344CB8AC3E}">
        <p14:creationId xmlns:p14="http://schemas.microsoft.com/office/powerpoint/2010/main" val="6996950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06EC2-E289-467F-AE43-7385F57E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4806C-822D-45A8-B07F-E72FEB3E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Supplement image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BD079-8320-4458-83DB-2574B497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영양제 이미지는 원본 저장이 아니라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검증된 preview row를 만드는 단계까지 구현했습니다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4987F-D4F1-403A-A0FB-BD32D01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현재 public API는 실제 OCR 추출 전 단계입니다. 이미지를 안전하게 받고, 후속 OCR/LLM이 사용할 임시 분석 ID를 생성합니다.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E654D-B0D4-4BEE-951B-1ADC685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28998-91ED-435A-847C-5E039E1B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830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140D0-7EAF-41A8-B0DA-353D492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905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C332E-E287-4658-8718-4D9E269E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0C81-82CE-4ED1-BB81-E75465D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176FF-77B7-4005-BAF7-FC9E276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업로드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8368B-5DB5-4CEB-AAA8-ABBAB42B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POST /api/v1/supplements/analyze multipart/form-data 단일 이미지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ABA6F-38DD-4295-90AA-D3A3386F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905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8DAD9-C57B-4E11-9BE3-7C22C41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07662-FC74-4F15-BA89-D445622F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8127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7A6DE-059F-4619-A4D0-6E313ACB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동의/권한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D5E6A-6588-42C8-AE18-FE098C26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supplement:write scope + ocr_image_processing 동의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4142A-2304-4C16-A498-2097B006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1905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D94B2-C6FC-4179-BB3E-EF225C1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8975D-74DA-4C2C-9A7D-9A6F29E1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8127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29E10-9340-407D-85E4-535752E9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이미지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09935-A6CE-4D07-9462-B648DEC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JPEG/PNG/WebP magic bytes와 content_type 일치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F7D10-A9A9-4593-BE7E-20EF28A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1905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C12FB-BD85-492D-8F77-B954B4CF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A316E-C2DF-475F-8ED3-8E0EA9DE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8127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D35E3-3332-41AF-BA1C-0F3E67E2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크기 제한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AA64C-3046-4AE5-9E24-25642185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5 MiB byte limit, 12M pixel limit, Pillow decode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C8A06-16A5-4F0C-AEA8-6C505E5A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1905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81FF2-9782-42D7-9E87-22686B12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6E1C3-EAB5-41FA-8DD1-688763AB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8127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E8E32E-1A94-45AB-BEC1-90B4A49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Preview 저장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5D6C6-CC9B-40F1-BDAD-83B6F7B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image_sha256, MIME, size, width/height, TTL 30분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133EE5-896C-4BAF-850C-022B36A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991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EFA09-6A49-4047-B0C7-2F3CBC2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E6C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EE6C5"/>
                </a:solidFill>
                <a:latin typeface="Apple SD Gothic Neo"/>
                <a:ea typeface="Apple SD Gothic Neo"/>
                <a:cs typeface="Apple SD Gothic Neo"/>
              </a:rPr>
              <a:t>저장하지 않는 데이터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D66FFC-F390-45C8-8D0C-E59F87CD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D3A46-29E3-41DC-8162-29D6976B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53000"/>
            <a:ext cx="1552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원본 이미지 bytes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5B15F6-81BE-4057-8F84-F327701A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29DFB0-AC24-4F5A-AF59-7A492125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53000"/>
            <a:ext cx="1647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원본 파일명과 EXIF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DA2AB-000C-487F-8EE2-023CECF2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3C31D5-1236-4900-B839-58AC46D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219700"/>
            <a:ext cx="2981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OCR 원문과 이미지 hash 응답 노출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9CE473-641F-47AB-A41E-92B456F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2609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4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C1FFCA-A5F4-40C0-B3C1-E122450A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339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C74646"/>
                </a:solidFill>
                <a:latin typeface="Apple SD Gothic Neo"/>
                <a:ea typeface="Apple SD Gothic Neo"/>
                <a:cs typeface="Apple SD Gothic Neo"/>
              </a:rPr>
              <a:t>검증 실패 처리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77EE62-F3AD-419A-B1D6-309BEAD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spoofing은 415, byte/pixel 초과는 413, 깨진 이미지는 422, idempotency 충돌은 409로 차단합니다.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DB16E5-7C0F-44BB-AB22-3CFCA60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2609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389837-1390-4F14-9050-AD143DA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성공 응답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0250F0-0528-4AAA-AD2E-04154949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815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202 Accepted + status=requires_confirmation + analysis_id + algorithm_version=supplement-intake-v1.0.0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43488F-A652-43B0-8939-01896895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05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B03915-299F-4CEB-97C7-F37D3C06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950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비전공자용 해석: 사진 자체를 보관하는 기능이 아니라, 안전 검사를 통과한 사진에 “분석 대기표”를 발급하는 기능입니다.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CAACBC-BF3E-402C-A0D4-F6FAAD6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42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구현 근거: backend/src/api/v1/supplements.py · services/supplement_intake.py · docs/20-p1-2-ocr-image-intake.md</a:t>
            </a:r>
          </a:p>
        </p:txBody>
      </p:sp>
    </p:spTree>
    <p:extLst>
      <p:ext uri="{BB962C8B-B14F-4D97-AF65-F5344CB8AC3E}">
        <p14:creationId xmlns:p14="http://schemas.microsoft.com/office/powerpoint/2010/main" val="8585741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F4F57-A52D-44AF-BF48-FB26A1B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6D693-0DE5-4C5D-AF68-239403F7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Supplement labeling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75788-4E1A-4FD8-AC83-7317AC0B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14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라벨링은 자동 저장이 아니라</a:t>
            </a:r>
          </a:p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후보 추출 → 사용자 확인 → 등록으로 설계했습니다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85182-13FD-4F5B-AD1E-651D5A4C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OCR/LLM이 만든 값은 최종 데이터가 아닙니다. 사용자가 확인한 값만 user_supplements로 승격됩니다.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B9291-B9D7-41E3-AC54-A915C37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1510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09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CF05A-B76F-45A2-8796-9B2A5439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657AE-E375-4BF9-8A65-E9AA7B5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962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B487C-E809-443A-9E5E-A06EBB68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6143D-6735-43B0-A389-37EBD776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F645C-3DF3-42CE-BD55-8AFB11A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OCR 텍스트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A92AF-8563-405D-908A-8FE5F3B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581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실제 OCR adapter 연결은 후속 단계. 서비스는 OCR text를 받아 normalize합니다.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94D4F-B29D-4956-B8BA-300CDC96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9800"/>
            <a:ext cx="1962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7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06CE2-FF21-405F-9077-E9A8DA77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62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B8AAF-37B0-41C3-8234-4EF58115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479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8263E-DB1E-4C36-A755-72D363DF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HMAC 해시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B1C9D-7060-4DDD-ADC2-A5B1BAEA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1581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raw OCR text는 저장하지 않고 privacy_hash_secret 기반 HMAC-SHA256만 저장합니다.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FBB62-9149-4856-9A34-67E70FD7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962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7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A54FD-0BA1-45A3-AF3A-2EB8DDBB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19B55-CC46-4D55-BAF1-D1EA329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479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DDDC2-41FE-41EE-9F9F-EA0075F2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Ollama 구조화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FCC3D-1D1A-48BB-82CF-CE02284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1581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localhost Ollama /api/chat, format=JSON Schema, temperature=0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E8F98-2DC9-4E42-BAFF-D668FDD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1962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3CF7E-3A3B-44A3-9F93-CACFCC6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2F7A0-7ADD-408F-AFF1-ADB4B9AE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479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6943E-ADBD-43B5-BB62-8ECC211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Pydantic 재검증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1764B-3784-4233-B3EC-8FE9CE2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19400"/>
            <a:ext cx="1581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모델 응답을 SupplementStructuredParseResult로 다시 검증합니다.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5434F-CF4A-42AD-A042-2F1FDF1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962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9525">
            <a:solidFill>
              <a:srgbClr val="6554A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93328-AB78-454A-843D-574F77B1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D9A5A-0841-47FF-A3BA-26C0278E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47925"/>
            <a:ext cx="323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2803C9-4C54-47B1-92DD-D8A9417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B"/>
                </a:solidFill>
                <a:latin typeface="Apple SD Gothic Neo"/>
                <a:ea typeface="Apple SD Gothic Neo"/>
                <a:cs typeface="Apple SD Gothic Neo"/>
              </a:rPr>
              <a:t>후보 라벨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6F4A95-51E7-400C-AB0C-05E8EF98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1581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제품명, 제조사, 성분명, 양, 단위, confidence, low_confidence_fields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E7A40-607A-4C9F-BF13-F2BE609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27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61F5A7-8F78-4262-8C58-4320495E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F8A5B"/>
                </a:solidFill>
                <a:latin typeface="Apple SD Gothic Neo"/>
                <a:ea typeface="Apple SD Gothic Neo"/>
                <a:cs typeface="Apple SD Gothic Neo"/>
              </a:rPr>
              <a:t>Preview snapshot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B237E-316E-47DB-9385-5F685997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parsed_product, ingredient_candidates, low_confidence_fields, parser_metadata를 저장하되 raw OCR text와 raw model response는 저장하지 않습니다.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58C15-CBCB-4705-AC45-454A4FA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327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E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66A1CC-D54F-4AA0-90B2-7EA78514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45E83"/>
                </a:solidFill>
                <a:latin typeface="Apple SD Gothic Neo"/>
                <a:ea typeface="Apple SD Gothic Neo"/>
                <a:cs typeface="Apple SD Gothic Neo"/>
              </a:rPr>
              <a:t>사용자 확인 저장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CB0A3A-F9CA-44BC-B034-2FABE54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POST /api/v1/supplements는 user_confirmed=true만 허용하고, preview 소유자·상태·만료 여부를 검증합니다.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ABBD8-8E06-4D61-8C51-474201B2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27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6A1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9E6CFB-9BB5-401C-87BF-0BA21D16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B56A16"/>
                </a:solidFill>
                <a:latin typeface="Apple SD Gothic Neo"/>
                <a:ea typeface="Apple SD Gothic Neo"/>
                <a:cs typeface="Apple SD Gothic Neo"/>
              </a:rPr>
              <a:t>제품 매칭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6CB3F3-057C-41CA-9916-F04B684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제품명 72%, 제조사 18%, 성분 overlap 10%; top score 0.92 이상일 때만 자동 연결합니다.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27598A-A003-4728-997F-894E893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05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EFCD46-388B-4CD7-949C-EDA7B57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구현 경계: 이미지 intake API는 연결 완료, OCR adapter public 연결은 후속 단계, 라벨 구조화·등록·매칭은 서비스/API 계층으로 구현되어 있습니다.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F9C96D-87F8-40DD-B9D6-6B425487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42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" b="0">
                <a:solidFill>
                  <a:srgbClr val="5F6F65"/>
                </a:solidFill>
                <a:latin typeface="Apple SD Gothic Neo"/>
                <a:ea typeface="Apple SD Gothic Neo"/>
                <a:cs typeface="Apple SD Gothic Neo"/>
              </a:rPr>
              <a:t>구현 근거: services/supplement_parser.py · llm/ollama.py · services/supplement_registration.py · services/supplement_matching.py · docs/21/22</a:t>
            </a:r>
          </a:p>
        </p:txBody>
      </p:sp>
    </p:spTree>
    <p:extLst>
      <p:ext uri="{BB962C8B-B14F-4D97-AF65-F5344CB8AC3E}">
        <p14:creationId xmlns:p14="http://schemas.microsoft.com/office/powerpoint/2010/main" val="1651700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2026-05-12T08:57:05.0220000Z</dcterms:created>
  <dcterms:modified xsi:type="dcterms:W3CDTF">2026-05-12T08:57:05.0220000Z</dcterms:modified>
</coreProperties>
</file>